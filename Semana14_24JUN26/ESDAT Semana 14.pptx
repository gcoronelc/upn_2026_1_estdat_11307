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  <p:sldMasterId id="2147483652" r:id="rId3"/>
    <p:sldMasterId id="2147483659" r:id="rId4"/>
    <p:sldMasterId id="2147483661" r:id="rId5"/>
    <p:sldMasterId id="2147483663" r:id="rId6"/>
  </p:sldMasterIdLst>
  <p:notesMasterIdLst>
    <p:notesMasterId r:id="rId18"/>
  </p:notesMasterIdLst>
  <p:sldIdLst>
    <p:sldId id="256" r:id="rId7"/>
    <p:sldId id="275" r:id="rId8"/>
    <p:sldId id="274" r:id="rId9"/>
    <p:sldId id="308" r:id="rId10"/>
    <p:sldId id="439" r:id="rId11"/>
    <p:sldId id="519" r:id="rId12"/>
    <p:sldId id="581" r:id="rId13"/>
    <p:sldId id="259" r:id="rId14"/>
    <p:sldId id="580" r:id="rId15"/>
    <p:sldId id="269" r:id="rId16"/>
    <p:sldId id="270" r:id="rId1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525035-F24A-074C-8EAD-67AAF8939197}" v="198" dt="2021-12-26T04:49:34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640" autoAdjust="0"/>
    <p:restoredTop sz="94694"/>
  </p:normalViewPr>
  <p:slideViewPr>
    <p:cSldViewPr snapToGrid="0">
      <p:cViewPr varScale="1">
        <p:scale>
          <a:sx n="80" d="100"/>
          <a:sy n="80" d="100"/>
        </p:scale>
        <p:origin x="132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B500B-F5FC-B34A-8332-825D5853AE43}" type="datetimeFigureOut">
              <a:rPr lang="es-PE" smtClean="0"/>
              <a:t>5/03/2022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6BE47-C3E6-6F47-A50F-3F7D3937D0A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9262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8D6422C3-F11A-4B46-B37E-A782D589D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6376" y="293874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124271F8-DCB0-489A-8F7C-77366A4BB5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659" y="2434607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1725603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85D25E8E-B890-4A13-99F2-7DC31D25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659" y="2434607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92D3C6-A3D3-4D45-A5FD-155927F565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87613" y="233363"/>
            <a:ext cx="5561234" cy="850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accent4"/>
                </a:solidFill>
                <a:latin typeface="Sharp Grotesk Bold 15" panose="00000806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TÍTULO XXXXXXXX</a:t>
            </a:r>
          </a:p>
        </p:txBody>
      </p:sp>
    </p:spTree>
    <p:extLst>
      <p:ext uri="{BB962C8B-B14F-4D97-AF65-F5344CB8AC3E}">
        <p14:creationId xmlns:p14="http://schemas.microsoft.com/office/powerpoint/2010/main" val="411013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EA841F4-549E-4882-B53B-2F0F1C86E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2002" y="620032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7" name="Marcador de texto 12">
            <a:extLst>
              <a:ext uri="{FF2B5EF4-FFF2-40B4-BE49-F238E27FC236}">
                <a16:creationId xmlns:a16="http://schemas.microsoft.com/office/drawing/2014/main" id="{82BF5647-220F-49AF-AB5A-C8B7DCA9EE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4534" y="2945246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3540097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egun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2146515" y="1250177"/>
            <a:ext cx="7447428" cy="11156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aseline="0">
                <a:solidFill>
                  <a:srgbClr val="FDBB3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54792" indent="-284813">
              <a:buFont typeface="Arial" panose="020B0604020202020204" pitchFamily="34" charset="0"/>
              <a:buChar char="•"/>
              <a:defRPr sz="149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95"/>
            </a:lvl3pPr>
            <a:lvl4pPr marL="1647282" indent="-237344">
              <a:buFont typeface="Arial" panose="020B0604020202020204" pitchFamily="34" charset="0"/>
              <a:buChar char="•"/>
              <a:defRPr sz="1495"/>
            </a:lvl4pPr>
            <a:lvl5pPr marL="2117260" indent="-237344">
              <a:buFont typeface="Arial" panose="020B0604020202020204" pitchFamily="34" charset="0"/>
              <a:buChar char="•"/>
              <a:defRPr sz="1495"/>
            </a:lvl5pPr>
          </a:lstStyle>
          <a:p>
            <a:pPr lvl="0"/>
            <a:r>
              <a:rPr lang="es-ES" dirty="0"/>
              <a:t>¿Preguntas o comentarios?</a:t>
            </a:r>
            <a:endParaRPr lang="es-PE" dirty="0"/>
          </a:p>
        </p:txBody>
      </p:sp>
      <p:pic>
        <p:nvPicPr>
          <p:cNvPr id="1028" name="Picture 4" descr="https://l.icdbcdn.com/oh/b48451c8-1273-46ef-802a-983752f37b1a.png?w=575&amp;mode=max&amp;f=3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4729" y="3005818"/>
            <a:ext cx="41910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6350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5">
            <a:extLst>
              <a:ext uri="{FF2B5EF4-FFF2-40B4-BE49-F238E27FC236}">
                <a16:creationId xmlns:a16="http://schemas.microsoft.com/office/drawing/2014/main" id="{D145D06E-2945-4317-8E81-3573F3BC64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2002" y="620032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DCC98E5E-7B43-4225-8019-4B457F934B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4534" y="2945246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3711811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5">
            <a:extLst>
              <a:ext uri="{FF2B5EF4-FFF2-40B4-BE49-F238E27FC236}">
                <a16:creationId xmlns:a16="http://schemas.microsoft.com/office/drawing/2014/main" id="{D145D06E-2945-4317-8E81-3573F3BC64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2002" y="620032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DCC98E5E-7B43-4225-8019-4B457F934B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4534" y="2945246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3339732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EA841F4-549E-4882-B53B-2F0F1C86E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2002" y="620032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7" name="Marcador de texto 12">
            <a:extLst>
              <a:ext uri="{FF2B5EF4-FFF2-40B4-BE49-F238E27FC236}">
                <a16:creationId xmlns:a16="http://schemas.microsoft.com/office/drawing/2014/main" id="{82BF5647-220F-49AF-AB5A-C8B7DCA9EE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4534" y="2945246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789437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5">
            <a:extLst>
              <a:ext uri="{FF2B5EF4-FFF2-40B4-BE49-F238E27FC236}">
                <a16:creationId xmlns:a16="http://schemas.microsoft.com/office/drawing/2014/main" id="{F44837F6-2A27-4DBE-9495-F9D0DF2BC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8945" y="367208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10" name="Marcador de texto 12">
            <a:extLst>
              <a:ext uri="{FF2B5EF4-FFF2-40B4-BE49-F238E27FC236}">
                <a16:creationId xmlns:a16="http://schemas.microsoft.com/office/drawing/2014/main" id="{7332F7A3-166E-4BB2-AEB2-E73F5DA78A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38945" y="2434607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7435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5">
            <a:extLst>
              <a:ext uri="{FF2B5EF4-FFF2-40B4-BE49-F238E27FC236}">
                <a16:creationId xmlns:a16="http://schemas.microsoft.com/office/drawing/2014/main" id="{DAD77459-4269-4D5A-9874-C5DB735209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8945" y="996600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BB663196-7267-4AF6-811F-24902DFC93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38945" y="3063999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2367949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Rectángulo&#10;&#10;Descripción generada automáticamente">
            <a:extLst>
              <a:ext uri="{FF2B5EF4-FFF2-40B4-BE49-F238E27FC236}">
                <a16:creationId xmlns:a16="http://schemas.microsoft.com/office/drawing/2014/main" id="{55F7A102-59E9-4B20-B2B2-4884E0A76F9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E325EE4D-F5B5-44BB-B250-8EAD3A9401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86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BC0EC00A-0BE9-4684-99EE-10A1F0A48C7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603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6" r:id="rId2"/>
    <p:sldLayoutId id="214748366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9B12E335-06DA-423E-B9C4-71EA1289873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73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D0EF54E5-D79B-47B2-950F-5559D299EB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036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2958C382-A56B-4118-AFB5-3FCB4B94B7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, Icono&#10;&#10;Descripción generada automáticamente">
            <a:extLst>
              <a:ext uri="{FF2B5EF4-FFF2-40B4-BE49-F238E27FC236}">
                <a16:creationId xmlns:a16="http://schemas.microsoft.com/office/drawing/2014/main" id="{2FE88096-1BC1-4875-A4EA-4642B7221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FAF9449-40BD-4FD4-8A96-15E17BB9A253}"/>
              </a:ext>
            </a:extLst>
          </p:cNvPr>
          <p:cNvSpPr txBox="1"/>
          <p:nvPr/>
        </p:nvSpPr>
        <p:spPr>
          <a:xfrm>
            <a:off x="5153891" y="670156"/>
            <a:ext cx="68874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>
                <a:latin typeface="Sharp Grotesk Book 15" panose="00000506000000000000" pitchFamily="50" charset="0"/>
              </a:rPr>
              <a:t>Estructura de Datos</a:t>
            </a:r>
            <a:endParaRPr lang="es-PE" sz="4000" b="1" dirty="0">
              <a:latin typeface="Sharp Grotesk Book 15" panose="00000506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B6D3AF5-D29A-4704-B9ED-CB2BE7AB7E6E}"/>
              </a:ext>
            </a:extLst>
          </p:cNvPr>
          <p:cNvSpPr txBox="1"/>
          <p:nvPr/>
        </p:nvSpPr>
        <p:spPr>
          <a:xfrm>
            <a:off x="5843337" y="571079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Sharp Grotesk Book 15" panose="00000506000000000000" pitchFamily="50" charset="0"/>
              </a:rPr>
              <a:t>[Fecha]</a:t>
            </a:r>
            <a:endParaRPr lang="es-PE" sz="2400" dirty="0">
              <a:latin typeface="Sharp Grotesk Book 15" panose="00000506000000000000" pitchFamily="50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44D4287-6CCC-4716-8E15-DCC08640E273}"/>
              </a:ext>
            </a:extLst>
          </p:cNvPr>
          <p:cNvSpPr txBox="1"/>
          <p:nvPr/>
        </p:nvSpPr>
        <p:spPr>
          <a:xfrm>
            <a:off x="10112543" y="571079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Sharp Grotesk Book 15" panose="00000506000000000000" pitchFamily="50" charset="0"/>
              </a:rPr>
              <a:t>UPN.EDU.PE</a:t>
            </a:r>
            <a:endParaRPr lang="es-PE" sz="2400" dirty="0">
              <a:latin typeface="Sharp Grotesk Book 15" panose="00000506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520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64985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Semana 14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4B68-BA26-40F7-B581-04D73827C0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3187989"/>
            <a:ext cx="12192001" cy="1447800"/>
          </a:xfrm>
        </p:spPr>
        <p:txBody>
          <a:bodyPr/>
          <a:lstStyle/>
          <a:p>
            <a:pPr algn="ctr"/>
            <a:r>
              <a:rPr lang="es-PE" sz="4800" b="1" dirty="0"/>
              <a:t>ALGORITMOS PARA GRAFOS</a:t>
            </a:r>
          </a:p>
        </p:txBody>
      </p:sp>
    </p:spTree>
    <p:extLst>
      <p:ext uri="{BB962C8B-B14F-4D97-AF65-F5344CB8AC3E}">
        <p14:creationId xmlns:p14="http://schemas.microsoft.com/office/powerpoint/2010/main" val="856449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9697A-E295-4799-8533-8431BF638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0032"/>
            <a:ext cx="11320670" cy="964911"/>
          </a:xfrm>
        </p:spPr>
        <p:txBody>
          <a:bodyPr/>
          <a:lstStyle/>
          <a:p>
            <a:pPr algn="ctr"/>
            <a:r>
              <a:rPr lang="es-PE" b="1" dirty="0"/>
              <a:t>PRESENTACIÓN DE LA SESIÓN</a:t>
            </a:r>
            <a:br>
              <a:rPr lang="es-PE" b="1" dirty="0"/>
            </a:br>
            <a:r>
              <a:rPr lang="es-PE" sz="4000" b="1" dirty="0"/>
              <a:t>Logro de la Sesión y Temario</a:t>
            </a:r>
            <a:endParaRPr lang="es-PE" b="1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A2B76752-A059-EE4C-8F5F-FDF892179F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0564" y="2728544"/>
            <a:ext cx="11238284" cy="2958578"/>
          </a:xfrm>
        </p:spPr>
        <p:txBody>
          <a:bodyPr/>
          <a:lstStyle/>
          <a:p>
            <a:pPr algn="l"/>
            <a:r>
              <a:rPr lang="es-PE" sz="2800" dirty="0"/>
              <a:t>Al término de la sesión, el estudiante aprende algoritmos para grafos, como representarlos y usarlos con eficacia.</a:t>
            </a:r>
          </a:p>
          <a:p>
            <a:pPr algn="l"/>
            <a:endParaRPr lang="es-PE" sz="2800" dirty="0"/>
          </a:p>
          <a:p>
            <a:pPr algn="l"/>
            <a:r>
              <a:rPr lang="es-PE" sz="2800" dirty="0"/>
              <a:t>Algoritmos sobre grafos: caminos mínimos </a:t>
            </a:r>
            <a:r>
              <a:rPr lang="es-PE" sz="2800" dirty="0" err="1"/>
              <a:t>Diijsktra</a:t>
            </a:r>
            <a:r>
              <a:rPr lang="es-PE" sz="2800" dirty="0"/>
              <a:t>, Algoritmo de Floyd y </a:t>
            </a:r>
            <a:r>
              <a:rPr lang="es-PE" sz="2800" dirty="0" err="1"/>
              <a:t>Warshall</a:t>
            </a:r>
            <a:r>
              <a:rPr lang="es-PE" sz="2800" dirty="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3840220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9697A-E295-4799-8533-8431BF638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0032"/>
            <a:ext cx="11320670" cy="964911"/>
          </a:xfrm>
        </p:spPr>
        <p:txBody>
          <a:bodyPr/>
          <a:lstStyle/>
          <a:p>
            <a:pPr algn="ctr"/>
            <a:r>
              <a:rPr lang="es-PE" b="1" dirty="0"/>
              <a:t>Reflexiona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58554C80-95AF-EC4A-BE44-3920506F78F8}"/>
              </a:ext>
            </a:extLst>
          </p:cNvPr>
          <p:cNvSpPr txBox="1">
            <a:spLocks/>
          </p:cNvSpPr>
          <p:nvPr/>
        </p:nvSpPr>
        <p:spPr>
          <a:xfrm>
            <a:off x="380564" y="2255688"/>
            <a:ext cx="11238284" cy="363999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PE" sz="2400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46F50DBD-3C81-2448-A56E-7283E27FE2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0564" y="3058957"/>
            <a:ext cx="11238284" cy="235871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3200" dirty="0"/>
              <a:t>¿Qué es un camino </a:t>
            </a:r>
            <a:r>
              <a:rPr lang="es-PE" sz="3200" dirty="0" err="1"/>
              <a:t>minimo</a:t>
            </a:r>
            <a:r>
              <a:rPr lang="es-PE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65577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Grafos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62411A8-2D42-BE41-A87E-B0C538401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060" y="2076587"/>
            <a:ext cx="6561879" cy="478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86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Introducción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154A45-189B-7F4F-8466-5716937F6C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1580" y="2631858"/>
            <a:ext cx="11584179" cy="3743542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PE" sz="2400" dirty="0"/>
              <a:t>Los grafos se usan para modelar problemas definidos en términos de relaciones o conexiones entre objetos.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PE" sz="2400" dirty="0"/>
              <a:t>Tienen un amplio uso en ingeniería para representar redes de todo tipo:</a:t>
            </a:r>
          </a:p>
          <a:p>
            <a:pPr marL="1143000" lvl="1" indent="-457200"/>
            <a:r>
              <a:rPr lang="es-PE" dirty="0"/>
              <a:t>transporte (tren, carretera, avión),</a:t>
            </a:r>
          </a:p>
          <a:p>
            <a:pPr marL="1143000" lvl="1" indent="-457200"/>
            <a:r>
              <a:rPr lang="es-PE" dirty="0"/>
              <a:t>servicios (comunicación, eléctrica, gas, agua),</a:t>
            </a:r>
          </a:p>
          <a:p>
            <a:pPr marL="1143000" lvl="1" indent="-457200"/>
            <a:r>
              <a:rPr lang="es-PE" dirty="0"/>
              <a:t>de actividades en el planeamiento de proyectos, etc.</a:t>
            </a:r>
          </a:p>
        </p:txBody>
      </p:sp>
    </p:spTree>
    <p:extLst>
      <p:ext uri="{BB962C8B-B14F-4D97-AF65-F5344CB8AC3E}">
        <p14:creationId xmlns:p14="http://schemas.microsoft.com/office/powerpoint/2010/main" val="3554862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Grafos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B4D2555-C67E-4F1B-B0A2-ACEFB7FD04BE}"/>
              </a:ext>
            </a:extLst>
          </p:cNvPr>
          <p:cNvSpPr txBox="1"/>
          <p:nvPr/>
        </p:nvSpPr>
        <p:spPr>
          <a:xfrm>
            <a:off x="961052" y="2761861"/>
            <a:ext cx="91093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Enunciado: Una empresa de mensajería dispone de 3 motoristas en distintos puntos de la ciudad y tiene que atender a 3 clientes en otros 3 puntos. Se puede estimar el tiempo que tardaría cada motorista en atender a cada uno de los clientes (en la tabla, en minutos): Diseñar un algoritmo que distribuya un cliente para cada motorista de forma que se minimice el coste total (en tiempo) de atender a los 3 clientes. 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E783DED-F1B8-4FC3-BF76-B9A6FB3760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548" t="46652" r="37702" b="45496"/>
          <a:stretch/>
        </p:blipFill>
        <p:spPr bwMode="auto">
          <a:xfrm>
            <a:off x="1327947" y="4665597"/>
            <a:ext cx="8357474" cy="19071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19192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/>
          <p:cNvSpPr>
            <a:spLocks noGrp="1"/>
          </p:cNvSpPr>
          <p:nvPr>
            <p:ph type="body" sz="quarter" idx="14"/>
          </p:nvPr>
        </p:nvSpPr>
        <p:spPr>
          <a:xfrm>
            <a:off x="1165854" y="494803"/>
            <a:ext cx="7447428" cy="1115652"/>
          </a:xfrm>
        </p:spPr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¿Preguntas o comentarios?</a:t>
            </a:r>
          </a:p>
          <a:p>
            <a:r>
              <a:rPr lang="es-PE" dirty="0">
                <a:solidFill>
                  <a:schemeClr val="tx1"/>
                </a:solidFill>
              </a:rPr>
              <a:t>¿Preguntas o comentarios?</a:t>
            </a:r>
          </a:p>
        </p:txBody>
      </p:sp>
    </p:spTree>
    <p:extLst>
      <p:ext uri="{BB962C8B-B14F-4D97-AF65-F5344CB8AC3E}">
        <p14:creationId xmlns:p14="http://schemas.microsoft.com/office/powerpoint/2010/main" val="1622824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1D0745-17C1-4BCC-8C7E-A38612BBE3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4533" y="2945246"/>
            <a:ext cx="10590875" cy="283845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Ceballos Sierra, F. Microsoft C#: Curso de Programación (2a.ed.) 2014 </a:t>
            </a:r>
          </a:p>
          <a:p>
            <a:r>
              <a:rPr lang="es-ES" dirty="0"/>
              <a:t>      https://elibronet.eu1.proxy.openathens.net/es/</a:t>
            </a:r>
            <a:r>
              <a:rPr lang="es-ES" dirty="0" err="1"/>
              <a:t>lc</a:t>
            </a:r>
            <a:r>
              <a:rPr lang="es-ES" dirty="0"/>
              <a:t>/</a:t>
            </a:r>
            <a:r>
              <a:rPr lang="es-ES" dirty="0" err="1"/>
              <a:t>upnorte</a:t>
            </a:r>
            <a:r>
              <a:rPr lang="es-ES" dirty="0"/>
              <a:t>/</a:t>
            </a:r>
            <a:r>
              <a:rPr lang="es-ES" dirty="0" err="1"/>
              <a:t>titulos</a:t>
            </a:r>
            <a:r>
              <a:rPr lang="es-ES" dirty="0"/>
              <a:t>/106417</a:t>
            </a:r>
            <a:endParaRPr lang="es-PE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AF5A587-25E6-4BFC-86D3-3D842775A9D1}"/>
              </a:ext>
            </a:extLst>
          </p:cNvPr>
          <p:cNvSpPr txBox="1">
            <a:spLocks/>
          </p:cNvSpPr>
          <p:nvPr/>
        </p:nvSpPr>
        <p:spPr>
          <a:xfrm>
            <a:off x="589722" y="1028700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Sharp Grotesk Bold 15" panose="00000806000000000000" pitchFamily="50" charset="0"/>
                <a:ea typeface="+mj-ea"/>
                <a:cs typeface="+mj-cs"/>
              </a:defRPr>
            </a:lvl1pPr>
          </a:lstStyle>
          <a:p>
            <a:r>
              <a:rPr lang="es-PE" dirty="0">
                <a:solidFill>
                  <a:schemeClr val="bg1"/>
                </a:solidFill>
              </a:rPr>
              <a:t>BIBLIOGRAFIA REFERENCIAL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4DB437D-AE48-494C-8866-32DBCE82F72E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67608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lecha&#10;&#10;Descripción generada automáticamente">
            <a:extLst>
              <a:ext uri="{FF2B5EF4-FFF2-40B4-BE49-F238E27FC236}">
                <a16:creationId xmlns:a16="http://schemas.microsoft.com/office/drawing/2014/main" id="{04BF8D6B-8EA2-4AC4-8326-2A263E72D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D804849-8A90-4015-970D-D19E955BE140}"/>
              </a:ext>
            </a:extLst>
          </p:cNvPr>
          <p:cNvSpPr txBox="1"/>
          <p:nvPr/>
        </p:nvSpPr>
        <p:spPr>
          <a:xfrm>
            <a:off x="5505965" y="2204326"/>
            <a:ext cx="668603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0" dirty="0">
                <a:solidFill>
                  <a:srgbClr val="FFC000"/>
                </a:solidFill>
                <a:latin typeface="Sharp Grotesk Bold 15" panose="00000806000000000000" pitchFamily="50" charset="0"/>
              </a:rPr>
              <a:t>GRACIAS</a:t>
            </a:r>
            <a:endParaRPr lang="es-PE" sz="13000" dirty="0">
              <a:solidFill>
                <a:srgbClr val="FFC000"/>
              </a:solidFill>
              <a:latin typeface="Sharp Grotesk Bold 15" panose="00000806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364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946A9F4B-A13F-4BFE-9CFB-4E66F292E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792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Personalizado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1524</TotalTime>
  <Words>264</Words>
  <Application>Microsoft Office PowerPoint</Application>
  <PresentationFormat>Panorámica</PresentationFormat>
  <Paragraphs>26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6</vt:i4>
      </vt:variant>
      <vt:variant>
        <vt:lpstr>Títulos de diapositiva</vt:lpstr>
      </vt:variant>
      <vt:variant>
        <vt:i4>11</vt:i4>
      </vt:variant>
    </vt:vector>
  </HeadingPairs>
  <TitlesOfParts>
    <vt:vector size="22" baseType="lpstr">
      <vt:lpstr>Arial</vt:lpstr>
      <vt:lpstr>Calibri</vt:lpstr>
      <vt:lpstr>Sharp Grotesk Bold 15</vt:lpstr>
      <vt:lpstr>Sharp Grotesk Book 15</vt:lpstr>
      <vt:lpstr>Telegraf</vt:lpstr>
      <vt:lpstr>Tema de Office</vt:lpstr>
      <vt:lpstr>Diseño personalizado</vt:lpstr>
      <vt:lpstr>1_Diseño personalizado</vt:lpstr>
      <vt:lpstr>2_Diseño personalizado</vt:lpstr>
      <vt:lpstr>3_Diseño personalizado</vt:lpstr>
      <vt:lpstr>4_Diseño personalizado</vt:lpstr>
      <vt:lpstr>Presentación de PowerPoint</vt:lpstr>
      <vt:lpstr>Semana 14</vt:lpstr>
      <vt:lpstr>PRESENTACIÓN DE LA SESIÓN Logro de la Sesión y Temario</vt:lpstr>
      <vt:lpstr>Reflexiona</vt:lpstr>
      <vt:lpstr>Grafos</vt:lpstr>
      <vt:lpstr>Introducción</vt:lpstr>
      <vt:lpstr>Grafos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Romero Untiveros</dc:creator>
  <cp:lastModifiedBy>Rosanna E. Yauri Leon</cp:lastModifiedBy>
  <cp:revision>92</cp:revision>
  <dcterms:created xsi:type="dcterms:W3CDTF">2021-12-15T18:30:43Z</dcterms:created>
  <dcterms:modified xsi:type="dcterms:W3CDTF">2022-03-05T14:11:42Z</dcterms:modified>
</cp:coreProperties>
</file>